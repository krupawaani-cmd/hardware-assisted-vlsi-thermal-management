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95" r:id="rId3"/>
    <p:sldId id="310" r:id="rId4"/>
    <p:sldId id="311" r:id="rId5"/>
    <p:sldId id="312" r:id="rId6"/>
    <p:sldId id="314" r:id="rId7"/>
    <p:sldId id="313" r:id="rId8"/>
    <p:sldId id="317" r:id="rId9"/>
    <p:sldId id="315" r:id="rId10"/>
    <p:sldId id="318" r:id="rId11"/>
    <p:sldId id="319" r:id="rId12"/>
    <p:sldId id="316" r:id="rId13"/>
    <p:sldId id="309" r:id="rId14"/>
  </p:sldIdLst>
  <p:sldSz cx="18288000" cy="10287000"/>
  <p:notesSz cx="6858000" cy="9144000"/>
  <p:embeddedFontLst>
    <p:embeddedFont>
      <p:font typeface="Aileron Bold" panose="020B0604020202020204" charset="0"/>
      <p:regular r:id="rId15"/>
    </p:embeddedFont>
    <p:embeddedFont>
      <p:font typeface="Archivo Black" panose="020B0604020202020204" charset="0"/>
      <p:regular r:id="rId16"/>
    </p:embeddedFont>
    <p:embeddedFont>
      <p:font typeface="Arial Bold" panose="020B0704020202020204" pitchFamily="34" charset="0"/>
      <p:regular r:id="rId17"/>
      <p:bold r:id="rId18"/>
    </p:embeddedFont>
    <p:embeddedFont>
      <p:font typeface="Arial Italics" panose="020B0604020202020204" charset="0"/>
      <p:regular r:id="rId19"/>
    </p:embeddedFont>
    <p:embeddedFont>
      <p:font typeface="Barlow Condensed Heavy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8634033"/>
            <a:ext cx="18288000" cy="1867317"/>
            <a:chOff x="0" y="0"/>
            <a:chExt cx="6467985" cy="1143857"/>
          </a:xfrm>
          <a:solidFill>
            <a:schemeClr val="tx2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467985" cy="1143857"/>
            </a:xfrm>
            <a:custGeom>
              <a:avLst/>
              <a:gdLst/>
              <a:ahLst/>
              <a:cxnLst/>
              <a:rect l="l" t="t" r="r" b="b"/>
              <a:pathLst>
                <a:path w="6467985" h="1143857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127779"/>
                  </a:lnTo>
                  <a:cubicBezTo>
                    <a:pt x="6467985" y="1132043"/>
                    <a:pt x="6466291" y="1136133"/>
                    <a:pt x="6463276" y="1139148"/>
                  </a:cubicBezTo>
                  <a:cubicBezTo>
                    <a:pt x="6460260" y="1142163"/>
                    <a:pt x="6456171" y="1143857"/>
                    <a:pt x="6451907" y="1143857"/>
                  </a:cubicBezTo>
                  <a:lnTo>
                    <a:pt x="16078" y="1143857"/>
                  </a:lnTo>
                  <a:cubicBezTo>
                    <a:pt x="11814" y="1143857"/>
                    <a:pt x="7724" y="1142163"/>
                    <a:pt x="4709" y="1139148"/>
                  </a:cubicBezTo>
                  <a:cubicBezTo>
                    <a:pt x="1694" y="1136133"/>
                    <a:pt x="0" y="1132043"/>
                    <a:pt x="0" y="1127779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467985" cy="1191482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Freeform 6"/>
          <p:cNvSpPr/>
          <p:nvPr/>
        </p:nvSpPr>
        <p:spPr>
          <a:xfrm>
            <a:off x="-16808" y="8592715"/>
            <a:ext cx="18288000" cy="1928827"/>
          </a:xfrm>
          <a:custGeom>
            <a:avLst/>
            <a:gdLst/>
            <a:ahLst/>
            <a:cxnLst/>
            <a:rect l="l" t="t" r="r" b="b"/>
            <a:pathLst>
              <a:path w="18832395" h="1657683">
                <a:moveTo>
                  <a:pt x="0" y="0"/>
                </a:moveTo>
                <a:lnTo>
                  <a:pt x="18832394" y="0"/>
                </a:lnTo>
                <a:lnTo>
                  <a:pt x="18832394" y="1657683"/>
                </a:lnTo>
                <a:lnTo>
                  <a:pt x="0" y="1657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649756" b="-386310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7" name="Freeform 7"/>
          <p:cNvSpPr/>
          <p:nvPr/>
        </p:nvSpPr>
        <p:spPr>
          <a:xfrm>
            <a:off x="645920" y="175565"/>
            <a:ext cx="3385512" cy="1560860"/>
          </a:xfrm>
          <a:custGeom>
            <a:avLst/>
            <a:gdLst/>
            <a:ahLst/>
            <a:cxnLst/>
            <a:rect l="l" t="t" r="r" b="b"/>
            <a:pathLst>
              <a:path w="4585330" h="1718495">
                <a:moveTo>
                  <a:pt x="0" y="0"/>
                </a:moveTo>
                <a:lnTo>
                  <a:pt x="4585330" y="0"/>
                </a:lnTo>
                <a:lnTo>
                  <a:pt x="4585330" y="1718495"/>
                </a:lnTo>
                <a:lnTo>
                  <a:pt x="0" y="1718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r="-7790" b="-2644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7012744" y="249876"/>
            <a:ext cx="3437929" cy="1486548"/>
          </a:xfrm>
          <a:custGeom>
            <a:avLst/>
            <a:gdLst/>
            <a:ahLst/>
            <a:cxnLst/>
            <a:rect l="l" t="t" r="r" b="b"/>
            <a:pathLst>
              <a:path w="4760429" h="1718495">
                <a:moveTo>
                  <a:pt x="0" y="0"/>
                </a:moveTo>
                <a:lnTo>
                  <a:pt x="4760429" y="0"/>
                </a:lnTo>
                <a:lnTo>
                  <a:pt x="4760429" y="1718495"/>
                </a:lnTo>
                <a:lnTo>
                  <a:pt x="0" y="17184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0"/>
          <p:cNvSpPr txBox="1"/>
          <p:nvPr/>
        </p:nvSpPr>
        <p:spPr>
          <a:xfrm>
            <a:off x="197126" y="8572167"/>
            <a:ext cx="10559082" cy="1362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 b="1" spc="163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IEEE International Conference on Emerging Technologies in Engineering Applications  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 b="1" spc="163" dirty="0">
                <a:solidFill>
                  <a:srgbClr val="FFFFFF"/>
                </a:solidFill>
                <a:latin typeface="Aileron Bold"/>
                <a:ea typeface="Aileron Bold"/>
                <a:cs typeface="Aileron Bold"/>
                <a:sym typeface="Aileron Bold"/>
              </a:rPr>
              <a:t>5-6 June 2025, Puducherry, India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067097" y="8780008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-28992" y="2140191"/>
            <a:ext cx="18288000" cy="1941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dirty="0">
                <a:latin typeface="Arial Bold" panose="020B0704020202020204" pitchFamily="34" charset="0"/>
                <a:cs typeface="Arial Bold" panose="020B0704020202020204" pitchFamily="34" charset="0"/>
              </a:rPr>
              <a:t>Hardware-Assisted Dynamic Heat Redistribution Using PCM and Logic Control for Efficient Thermal Management in Advanced VLSI </a:t>
            </a:r>
            <a:endParaRPr lang="en-IN" sz="3700" dirty="0"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algn="ctr">
              <a:lnSpc>
                <a:spcPts val="5180"/>
              </a:lnSpc>
            </a:pPr>
            <a:endParaRPr lang="en-US" sz="3700" b="1" dirty="0">
              <a:solidFill>
                <a:srgbClr val="0350A0"/>
              </a:solidFill>
              <a:latin typeface="Arial Bold"/>
              <a:ea typeface="Arial Bold"/>
              <a:cs typeface="Arial Bold"/>
              <a:sym typeface="Arial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-412292" y="3701617"/>
            <a:ext cx="18288000" cy="491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Paper ID: 1144 			Track No: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-28992" y="4634821"/>
            <a:ext cx="18288000" cy="1610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 Name and Affiliation </a:t>
            </a:r>
          </a:p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B92219"/>
                </a:solidFill>
                <a:latin typeface="Arial"/>
                <a:ea typeface="Arial"/>
                <a:cs typeface="Arial"/>
                <a:sym typeface="Arial"/>
              </a:rPr>
              <a:t>Name of First Author, Name of Second Author, Name of Third Author (All Author Name )</a:t>
            </a:r>
          </a:p>
          <a:p>
            <a:pPr algn="ctr">
              <a:lnSpc>
                <a:spcPts val="3920"/>
              </a:lnSpc>
            </a:pPr>
            <a:r>
              <a:rPr lang="en-US" sz="2800" i="1" dirty="0">
                <a:solidFill>
                  <a:srgbClr val="0350A0"/>
                </a:solidFill>
                <a:latin typeface="Arial Italics"/>
                <a:ea typeface="Arial Italics"/>
                <a:cs typeface="Arial Italics"/>
                <a:sym typeface="Arial Italics"/>
              </a:rPr>
              <a:t>Authors Affiliation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-16808" y="6813387"/>
            <a:ext cx="18288000" cy="1593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Presented By </a:t>
            </a:r>
          </a:p>
          <a:p>
            <a:pPr algn="ctr">
              <a:lnSpc>
                <a:spcPts val="4199"/>
              </a:lnSpc>
            </a:pPr>
            <a:r>
              <a:rPr lang="en-US" sz="2999" dirty="0">
                <a:solidFill>
                  <a:srgbClr val="B92219"/>
                </a:solidFill>
                <a:latin typeface="Arial"/>
                <a:ea typeface="Arial"/>
                <a:cs typeface="Arial"/>
                <a:sym typeface="Arial"/>
              </a:rPr>
              <a:t>Name of First Presenter</a:t>
            </a:r>
          </a:p>
          <a:p>
            <a:pPr algn="ctr">
              <a:lnSpc>
                <a:spcPts val="3779"/>
              </a:lnSpc>
            </a:pPr>
            <a:r>
              <a:rPr lang="en-US" sz="2699" i="1" dirty="0">
                <a:solidFill>
                  <a:srgbClr val="0350A0"/>
                </a:solidFill>
                <a:latin typeface="Arial Italics"/>
                <a:ea typeface="Arial Italics"/>
                <a:cs typeface="Arial Italics"/>
                <a:sym typeface="Arial Italics"/>
              </a:rPr>
              <a:t>Presenter Affiliation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D97EDD-8798-DD1D-6DC8-1DF365839B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89" r="18168"/>
          <a:stretch>
            <a:fillRect/>
          </a:stretch>
        </p:blipFill>
        <p:spPr>
          <a:xfrm>
            <a:off x="13491213" y="-20214"/>
            <a:ext cx="4767795" cy="21228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/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/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/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/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/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B7395E-A206-D287-70B0-B215432425C9}"/>
              </a:ext>
            </a:extLst>
          </p:cNvPr>
          <p:cNvSpPr txBox="1"/>
          <p:nvPr/>
        </p:nvSpPr>
        <p:spPr>
          <a:xfrm>
            <a:off x="647056" y="1111052"/>
            <a:ext cx="17357426" cy="59554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INTRODUCTION</a:t>
            </a:r>
            <a:endParaRPr lang="en-US" sz="3700" b="1" dirty="0">
              <a:solidFill>
                <a:srgbClr val="1B277B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Advanced VLSI systems operate at high transistor density, leading to increased power density and thermal hotspots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Hotspots negatively impact performance, reliability, and device lifespan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Existing thermal techniques (DVFS, cooling systems) suffer from latency, power overhead, and limited adaptability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 real-time, hardware-based thermal management approach using PCM and logic control is required</a:t>
            </a:r>
            <a:endParaRPr lang="en-IN" sz="3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5535B-BAE2-44E8-682F-52EFE235C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863BC16-0D63-79E5-3934-5FF1F0E06FFB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D0D6FE3-9CD3-9F27-2BFD-88455DF1B50F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E5A6DD-DB57-AA47-3891-59F77F494A04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5C715DAF-F920-F595-88D5-DC40908A4AE5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BBEA2E1-5099-9EC0-6412-80F66A7A4DE1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5A1D854-BB6D-41E7-6606-DCDFB7AFC16B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A96FD8C-9C4D-FB77-0BF1-00FCB7E89ACA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3E4362E-0A2E-E363-93CB-73BD242DB8E8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F85D722-8801-64A9-3610-603CC5DA4DD1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F33F1F6-CDC7-84F6-71A4-E1DF5B3DDF09}"/>
              </a:ext>
            </a:extLst>
          </p:cNvPr>
          <p:cNvSpPr txBox="1"/>
          <p:nvPr/>
        </p:nvSpPr>
        <p:spPr>
          <a:xfrm>
            <a:off x="719064" y="1183060"/>
            <a:ext cx="17386900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700" b="1" dirty="0">
                <a:solidFill>
                  <a:srgbClr val="1E0B93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PROBLEM STATEMENT </a:t>
            </a:r>
            <a:endParaRPr lang="en-US" sz="3700" b="1" dirty="0">
              <a:solidFill>
                <a:srgbClr val="1E0B93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Localized hotspots cause performance degradation, leakage increase, and accelerated aging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Passive methods (PCM alone) lack control over heat redistribution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Software-based thermal management introduces delay and inefficient response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" panose="020B0604020202020204" pitchFamily="34" charset="0"/>
                <a:cs typeface="Arial" panose="020B0604020202020204" pitchFamily="34" charset="0"/>
              </a:rPr>
              <a:t>Absence of a low-latency, adaptive on-chip thermal control mechanism</a:t>
            </a:r>
            <a:endParaRPr lang="en-IN" sz="3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477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BB436-F4CE-211E-8F82-7186F60F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1FD4FF9-748D-E6CD-D5DC-9C885DBB6420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23FF5D8-9391-4E82-EABD-66D356DD493E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879012FE-D8E9-F99E-677C-B7630296DDF7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C5CEDD63-4D74-34A7-BADD-329CDF3E0A87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AD261F-283D-D9F2-99E3-481F2A6E96F3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F500DF8-6801-2B2D-9790-72AE1554F6DB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6544A17-8F0B-9A31-3677-D1FFE9473B95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EB9B83F-55FC-DABC-24B2-008EF7895B24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C42ED04-3EBA-EB92-A600-EA520221C457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AD31A2-452E-E687-B202-9E7E2D774762}"/>
              </a:ext>
            </a:extLst>
          </p:cNvPr>
          <p:cNvSpPr txBox="1"/>
          <p:nvPr/>
        </p:nvSpPr>
        <p:spPr>
          <a:xfrm>
            <a:off x="791072" y="1111052"/>
            <a:ext cx="16633848" cy="629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EXISTING SOLUTION</a:t>
            </a:r>
            <a:endParaRPr lang="en-US" sz="3700" b="1" dirty="0">
              <a:solidFill>
                <a:srgbClr val="1B277B"/>
              </a:solidFill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DVFS and software-based thermal control introduce latency and reduce overall system performance during operation.</a:t>
            </a:r>
          </a:p>
          <a:p>
            <a:pPr algn="just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Heat sinks and conventional cooling techniques operate mainly at the package level and do not provide effective on-chip thermal management.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Passive PCM cooling can absorb heat temporarily but suffers from saturation and lacks control over heat redistribution.</a:t>
            </a:r>
          </a:p>
          <a:p>
            <a:pPr algn="just"/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Existing approaches do not provide real-time, localized, and adaptive thermal redistribution within the chip.</a:t>
            </a:r>
            <a:endParaRPr lang="en-IN" sz="3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6655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4D31F-6A49-EB32-5AE9-494DA5CCE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FD62204-9DCB-4E2F-CF42-72BD1F5A4EE0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50856E-F1C3-A918-1BE3-5EEA481C36C2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0C17D27-4C30-4543-02FD-D7723FF393D8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369770EE-0343-A540-86B2-EAF94146E59E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ACA257A-584C-7C69-7292-3E1BD35B3968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BE9E96C-4F23-F269-89A7-E3A2D7235C3C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BD90D1F-37EA-FD9D-B7E4-FE30E5D28AFB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1B4EAE1-ACDD-8C4E-CB89-7AA52DB10E09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1051240-BB27-B79B-8097-85449BA01BBA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18CEA-52F6-65E5-AF47-24FA58DFB07A}"/>
              </a:ext>
            </a:extLst>
          </p:cNvPr>
          <p:cNvSpPr txBox="1"/>
          <p:nvPr/>
        </p:nvSpPr>
        <p:spPr>
          <a:xfrm>
            <a:off x="465947" y="1174038"/>
            <a:ext cx="11449999" cy="5370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PROPOSED FRAMEWORK </a:t>
            </a:r>
            <a:endParaRPr lang="en-US" sz="3700" dirty="0"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 "/>
                <a:cs typeface="Arial Bold" panose="020B0704020202020204" pitchFamily="34" charset="0"/>
              </a:rPr>
              <a:t>The proposed framework introduces a PCM-assisted, logic-controlled thermal management system for efficient heat regulation in VLSI circuits.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0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 "/>
                <a:cs typeface="Arial Bold" panose="020B0704020202020204" pitchFamily="34" charset="0"/>
              </a:rPr>
              <a:t>It integrates thermal sensing, hardware-based control, and heat redistribution mechanisms to manage localized hotspots.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0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000" dirty="0">
                <a:latin typeface="Arial "/>
                <a:cs typeface="Arial Bold" panose="020B0704020202020204" pitchFamily="34" charset="0"/>
              </a:rPr>
              <a:t>The framework enables real-time, low-latency thermal response without relying on software-based control.</a:t>
            </a:r>
            <a:endParaRPr lang="en-IN" sz="3000" dirty="0">
              <a:latin typeface="Arial "/>
              <a:cs typeface="Arial Bold" panose="020B0704020202020204" pitchFamily="34" charset="0"/>
            </a:endParaRP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F0EEF5F-4B26-47DF-8686-BA3987BAA5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86" t="4052" r="20311" b="9400"/>
          <a:stretch>
            <a:fillRect/>
          </a:stretch>
        </p:blipFill>
        <p:spPr>
          <a:xfrm>
            <a:off x="12097054" y="234416"/>
            <a:ext cx="5543891" cy="804782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1169B7-0A17-2473-8A28-AE0F0EFE63D6}"/>
              </a:ext>
            </a:extLst>
          </p:cNvPr>
          <p:cNvSpPr txBox="1"/>
          <p:nvPr/>
        </p:nvSpPr>
        <p:spPr>
          <a:xfrm>
            <a:off x="12384361" y="8075272"/>
            <a:ext cx="52565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 Bold" panose="020B0704020202020204" pitchFamily="34" charset="0"/>
                <a:cs typeface="Arial Bold" panose="020B0704020202020204" pitchFamily="34" charset="0"/>
              </a:rPr>
              <a:t>Figure 1.1. </a:t>
            </a:r>
            <a:r>
              <a:rPr lang="en-US" sz="2000" b="1" dirty="0">
                <a:latin typeface="Arial Bold" panose="020B0704020202020204" pitchFamily="34" charset="0"/>
                <a:cs typeface="Arial Bold" panose="020B0704020202020204" pitchFamily="34" charset="0"/>
              </a:rPr>
              <a:t>High-level operational flow of the PCM-assisted thermal management system</a:t>
            </a:r>
            <a:endParaRPr lang="en-IN" sz="2000" b="1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850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4CC93-9E8A-9ABD-A90F-821D2BD409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E61D6A4-5255-9D06-F786-E913B04E1E95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2E88A71-65B1-F0C2-2381-210D9D35158C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519D200-2CCA-9A40-C598-0E668128E90C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836B77F-D918-04D7-A8F4-34EE2AF8E5C8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3D0B485F-E96C-5869-8D8B-D7CED2F73A7B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B3C8688-5923-09DE-123D-F9695576FC60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A14709A-C226-4A9F-ECAB-E2C1ED4B0D94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6CC06FF8-B4FD-C61D-194D-5E2CA8C46BCD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4ABF8BCB-47CC-6246-66D4-72FF5E07BDF4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511D68-4063-3DD2-30AC-A85F370F29B4}"/>
              </a:ext>
            </a:extLst>
          </p:cNvPr>
          <p:cNvSpPr txBox="1"/>
          <p:nvPr/>
        </p:nvSpPr>
        <p:spPr>
          <a:xfrm>
            <a:off x="701394" y="1111052"/>
            <a:ext cx="1024280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SYSTEM OVERVIEW</a:t>
            </a:r>
            <a:endParaRPr lang="en-US" sz="3700" dirty="0"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The system consists of thermal sensors, a logic control unit, PCM regions, and a redistribution layer forming a closed-loop architecture.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Temperature data from sensors is continuously monitored and processed by the control unit to detect hotspot conditions.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When a threshold is exceeded, PCM absorbs heat and the redistribution layer spreads it, ensuring dynamic thermal stabilization.</a:t>
            </a:r>
            <a:endParaRPr lang="en-IN" sz="3100" dirty="0">
              <a:latin typeface="Arial 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5FAF762-A6BF-CC9C-CDF4-7E6AF2A4CA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77" t="2506" r="2245" b="15854"/>
          <a:stretch>
            <a:fillRect/>
          </a:stretch>
        </p:blipFill>
        <p:spPr>
          <a:xfrm>
            <a:off x="11232232" y="49992"/>
            <a:ext cx="6984776" cy="80577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12E020-1522-E7C4-BB30-A5C8F8655831}"/>
              </a:ext>
            </a:extLst>
          </p:cNvPr>
          <p:cNvSpPr txBox="1"/>
          <p:nvPr/>
        </p:nvSpPr>
        <p:spPr>
          <a:xfrm>
            <a:off x="12456368" y="8093655"/>
            <a:ext cx="4536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Arial Bold" panose="020B0704020202020204" pitchFamily="34" charset="0"/>
                <a:cs typeface="Arial Bold" panose="020B0704020202020204" pitchFamily="34" charset="0"/>
              </a:rPr>
              <a:t>Figure 1.2. </a:t>
            </a:r>
            <a:r>
              <a:rPr lang="en-US" sz="2000" b="1" dirty="0">
                <a:latin typeface="Arial Bold" panose="020B0704020202020204" pitchFamily="34" charset="0"/>
                <a:cs typeface="Arial Bold" panose="020B0704020202020204" pitchFamily="34" charset="0"/>
              </a:rPr>
              <a:t>On-chip PCM-assisted architecture with logic-controlled heat redistribution</a:t>
            </a:r>
            <a:endParaRPr lang="en-IN" sz="20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453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CC3F0-B43C-BF0E-E2EB-7281B77B0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4B595E4-3F89-C30F-B035-595A63A605BF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B0115A4-B945-A0E4-DF13-C66E5C19BDE7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ACD0232-CF63-D4D5-1F57-5653EC853443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658205E-AFBD-D7A6-C662-3913AC604B6A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FA722B9-613E-95C1-5CFA-A086089D4D0F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629BE6F-8035-B225-F63B-866D66A5A3B4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E2585C8-54CB-7D95-D89A-E1CD29990687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A7D11E3-C1F5-6F83-72F5-ADE34E6F7F4D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B5BAE37-52DC-EB32-0570-8CD658108982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CEEB00-C678-F509-DF7A-F6EF1D16721A}"/>
              </a:ext>
            </a:extLst>
          </p:cNvPr>
          <p:cNvSpPr txBox="1"/>
          <p:nvPr/>
        </p:nvSpPr>
        <p:spPr>
          <a:xfrm>
            <a:off x="863080" y="1501226"/>
            <a:ext cx="16417823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SIMULATION &amp; VALIDATION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7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Arial Bold" panose="020B0704020202020204" pitchFamily="34" charset="0"/>
              </a:rPr>
              <a:t>The proposed system is validated using </a:t>
            </a:r>
            <a:r>
              <a:rPr lang="en-US" sz="3100" dirty="0" err="1">
                <a:latin typeface="Arial "/>
                <a:cs typeface="Arial Bold" panose="020B0704020202020204" pitchFamily="34" charset="0"/>
              </a:rPr>
              <a:t>multiphysics</a:t>
            </a:r>
            <a:r>
              <a:rPr lang="en-US" sz="3100" dirty="0">
                <a:latin typeface="Arial "/>
                <a:cs typeface="Arial Bold" panose="020B0704020202020204" pitchFamily="34" charset="0"/>
              </a:rPr>
              <a:t> thermal simulation (</a:t>
            </a:r>
            <a:r>
              <a:rPr lang="en-US" sz="3100" dirty="0" err="1">
                <a:latin typeface="Arial "/>
                <a:cs typeface="Arial Bold" panose="020B0704020202020204" pitchFamily="34" charset="0"/>
              </a:rPr>
              <a:t>ElmerSolver</a:t>
            </a:r>
            <a:r>
              <a:rPr lang="en-US" sz="3100" dirty="0">
                <a:latin typeface="Arial "/>
                <a:cs typeface="Arial Bold" panose="020B0704020202020204" pitchFamily="34" charset="0"/>
              </a:rPr>
              <a:t>) along with control logic verification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Arial Bold" panose="020B0704020202020204" pitchFamily="34" charset="0"/>
              </a:rPr>
              <a:t>Simulation models include heat conduction, PCM phase transition, and dynamic heat redistribution across the chip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Arial Bold" panose="020B0704020202020204" pitchFamily="34" charset="0"/>
              </a:rPr>
              <a:t>Results confirm effective hotspot detection and real-time activation of control signals for thermal regulation</a:t>
            </a:r>
            <a:endParaRPr lang="en-IN" sz="3100" dirty="0">
              <a:latin typeface="Arial "/>
              <a:cs typeface="Arial Bold" panose="020B07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8A546D-04A5-2FA8-B29D-8B9F540D767D}"/>
              </a:ext>
            </a:extLst>
          </p:cNvPr>
          <p:cNvSpPr txBox="1"/>
          <p:nvPr/>
        </p:nvSpPr>
        <p:spPr>
          <a:xfrm>
            <a:off x="11736289" y="462980"/>
            <a:ext cx="6192687" cy="7200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907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387FE-2C9E-B09E-E521-61095571C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431D991-EB9C-AA0B-ED76-5835CBFE629E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3E2B7F-4374-158E-1F6C-45479879E668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292CA455-52CD-8914-F143-56D6E39F399D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9F314FB6-8E3D-1AD9-6C89-5503B883BDAB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B410417-B47F-E1B9-9393-CFEB37ADA9D7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D9AFD6C-B8A7-265C-6BA3-74BB4243B47A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765821A-4B71-D166-E6EC-11A311C77512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09124AC-6E3E-BD74-3AC4-189BDB25FBED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51ED9C4-AF0C-D666-C9D4-9593BDBA984A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F3A01-C23D-A62E-D640-567EFCB648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43"/>
          <a:stretch>
            <a:fillRect/>
          </a:stretch>
        </p:blipFill>
        <p:spPr>
          <a:xfrm>
            <a:off x="2775915" y="751012"/>
            <a:ext cx="12673408" cy="6693251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3B45DC09-8157-0B31-CA44-3CCED98B5F8C}"/>
              </a:ext>
            </a:extLst>
          </p:cNvPr>
          <p:cNvSpPr txBox="1"/>
          <p:nvPr/>
        </p:nvSpPr>
        <p:spPr>
          <a:xfrm>
            <a:off x="4493727" y="7939497"/>
            <a:ext cx="92377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latin typeface="Arial Bold" panose="020B0704020202020204" pitchFamily="34" charset="0"/>
                <a:cs typeface="Arial Bold" panose="020B0704020202020204" pitchFamily="34" charset="0"/>
              </a:rPr>
              <a:t>Figure 1.3. Thermal distribution and simulation response of the proposed system</a:t>
            </a:r>
            <a:endParaRPr lang="en-IN" sz="25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3310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DF1DD-82E9-480E-263E-079F3BCC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C8DA42A-7E30-BE39-7CDD-DE36F1A0E82E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B806B4E-F63D-0D37-DAC0-E401AB7D8868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6B11AF44-DF77-C3BA-2BAC-8B572F383D04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41E89591-7615-638B-6F6E-94364786D224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A8BB1C5-8FFE-A388-9145-5586BBF3F2FB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60D342E-22CB-46F5-22FF-1F214F2372F4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EBC5DA-52B6-C3DF-7A58-D972781D83CC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34ECB6B5-DD1B-3286-5242-D49E09FCDF65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33DA228-D572-FAB4-8110-4E382D959C75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FA8F0B-3BEB-9351-3D58-4B5F8B2AA484}"/>
              </a:ext>
            </a:extLst>
          </p:cNvPr>
          <p:cNvSpPr txBox="1"/>
          <p:nvPr/>
        </p:nvSpPr>
        <p:spPr>
          <a:xfrm>
            <a:off x="971714" y="1039044"/>
            <a:ext cx="16165173" cy="50321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RESULTS &amp; DISCUSSION</a:t>
            </a:r>
            <a:endParaRPr lang="en-US" sz="3700" dirty="0">
              <a:latin typeface="Arial Bold" panose="020B0704020202020204" pitchFamily="34" charset="0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The proposed approach achieves significant reduction in peak hotspot temperature and improved thermal uniformity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Dynamic response analysis shows fast stabilization of temperature under varying thermal conditions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3100" dirty="0">
              <a:latin typeface="Arial 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3100" dirty="0">
                <a:latin typeface="Arial "/>
                <a:cs typeface="Times New Roman" panose="02020603050405020304" pitchFamily="18" charset="0"/>
              </a:rPr>
              <a:t>Overall system demonstrates efficient, low-latency thermal management compared to conventional methods</a:t>
            </a:r>
            <a:endParaRPr lang="en-IN" sz="3100" dirty="0">
              <a:latin typeface="Arial 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983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0ABD2-DC30-16E8-74D6-D3F9F012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944619F-6A4C-C9D6-254F-9736C9273D0F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0F8FA61-F194-7770-0256-AE4AB86B73A0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6DE0D27-9960-2583-AE92-ED8063765070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1826CD96-7F85-7868-7562-4E3D29A07882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62514BEA-D6CD-5D5A-1E41-E02851777C38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0D7FC05-F908-03D5-8027-ADC250ADF4BE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C0D962AD-C423-F6E7-31EA-45EA5ABFF813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D4BB12AD-9DEE-CDDE-D3F4-153732FB5497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19AD502-9B74-651E-A3D0-3A94A4DB8DE0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2AB2593-7833-14B0-E506-6D203E6157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8" r="3977" b="4617"/>
          <a:stretch>
            <a:fillRect/>
          </a:stretch>
        </p:blipFill>
        <p:spPr>
          <a:xfrm>
            <a:off x="695857" y="381940"/>
            <a:ext cx="8241418" cy="66967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9F8D192-1598-5AB8-CABA-723BBF9AF9E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0862" y="365582"/>
            <a:ext cx="7161298" cy="68588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BD93079-1925-3BB2-0EA9-382DD8461B93}"/>
              </a:ext>
            </a:extLst>
          </p:cNvPr>
          <p:cNvSpPr txBox="1"/>
          <p:nvPr/>
        </p:nvSpPr>
        <p:spPr>
          <a:xfrm>
            <a:off x="195036" y="7499602"/>
            <a:ext cx="92430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 Bold" panose="020B0704020202020204" pitchFamily="34" charset="0"/>
                <a:cs typeface="Arial Bold" panose="020B0704020202020204" pitchFamily="34" charset="0"/>
              </a:rPr>
              <a:t>Figure 1.4. Temperature comparison with and without PCM showing reduced peak temperature</a:t>
            </a:r>
            <a:endParaRPr lang="en-IN" sz="20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F9767E-6503-B4EE-A967-4807EC73EB49}"/>
              </a:ext>
            </a:extLst>
          </p:cNvPr>
          <p:cNvSpPr txBox="1"/>
          <p:nvPr/>
        </p:nvSpPr>
        <p:spPr>
          <a:xfrm>
            <a:off x="9342459" y="7453435"/>
            <a:ext cx="92430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latin typeface="Arial Bold" panose="020B0704020202020204" pitchFamily="34" charset="0"/>
                <a:cs typeface="Arial Bold" panose="020B0704020202020204" pitchFamily="34" charset="0"/>
              </a:rPr>
              <a:t>Figure 1.5. Dynamic hotspot temperature response over time</a:t>
            </a:r>
            <a:endParaRPr lang="en-IN" sz="20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94269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02F4F-0905-DFD0-F532-47E7AA5D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BA78412-6114-6578-CC34-75A5AE9EDA9E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9728189-B8DF-BDCB-9557-3A7DE1AADC8D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AB1C7C86-CF25-E204-5455-DA72472CDDD9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27BCFF9E-5E50-ACF1-141C-A0529163D833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2BA3038-1C27-8E23-6882-780149EA8874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2FE554F-9167-27D3-3F7B-405843DA5B1B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48474E4-4B42-FEE4-4E53-7B7898CD47A8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14E7164-F50D-CB7E-A233-89644AA1F104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5F60BE9-61C3-DBD9-2563-7649DC1ECF3C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94DC4D4-6948-EEFA-1AE2-7CE93C45E9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670940"/>
              </p:ext>
            </p:extLst>
          </p:nvPr>
        </p:nvGraphicFramePr>
        <p:xfrm>
          <a:off x="480120" y="2191172"/>
          <a:ext cx="17327760" cy="480060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3465552">
                  <a:extLst>
                    <a:ext uri="{9D8B030D-6E8A-4147-A177-3AD203B41FA5}">
                      <a16:colId xmlns:a16="http://schemas.microsoft.com/office/drawing/2014/main" val="2936558016"/>
                    </a:ext>
                  </a:extLst>
                </a:gridCol>
                <a:gridCol w="3465552">
                  <a:extLst>
                    <a:ext uri="{9D8B030D-6E8A-4147-A177-3AD203B41FA5}">
                      <a16:colId xmlns:a16="http://schemas.microsoft.com/office/drawing/2014/main" val="2563350239"/>
                    </a:ext>
                  </a:extLst>
                </a:gridCol>
                <a:gridCol w="3465552">
                  <a:extLst>
                    <a:ext uri="{9D8B030D-6E8A-4147-A177-3AD203B41FA5}">
                      <a16:colId xmlns:a16="http://schemas.microsoft.com/office/drawing/2014/main" val="3457030620"/>
                    </a:ext>
                  </a:extLst>
                </a:gridCol>
                <a:gridCol w="3465552">
                  <a:extLst>
                    <a:ext uri="{9D8B030D-6E8A-4147-A177-3AD203B41FA5}">
                      <a16:colId xmlns:a16="http://schemas.microsoft.com/office/drawing/2014/main" val="983084764"/>
                    </a:ext>
                  </a:extLst>
                </a:gridCol>
                <a:gridCol w="3465552">
                  <a:extLst>
                    <a:ext uri="{9D8B030D-6E8A-4147-A177-3AD203B41FA5}">
                      <a16:colId xmlns:a16="http://schemas.microsoft.com/office/drawing/2014/main" val="30115142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Response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Control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Efficiency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7792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DVFS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Performance loss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0164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Heat Sink / Cooling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on-chip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72218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PCM (Passive)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Saturation issue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2061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 Thermal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Software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Delayed response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0656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Near-zero latency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Hardware-based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Needs hardware validation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6102601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BD74243-3B9F-AC14-AAD6-117AECDB44BA}"/>
              </a:ext>
            </a:extLst>
          </p:cNvPr>
          <p:cNvSpPr txBox="1"/>
          <p:nvPr/>
        </p:nvSpPr>
        <p:spPr>
          <a:xfrm>
            <a:off x="480120" y="772502"/>
            <a:ext cx="16633848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700" b="1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 COMPARISON WITH EXISTING THERMAL MANAGEMENT TECHNIQUES</a:t>
            </a:r>
            <a:endParaRPr lang="en-US" sz="3700" dirty="0">
              <a:latin typeface="Arial Bold" panose="020B0704020202020204" pitchFamily="34" charset="0"/>
              <a:cs typeface="Arial Bold" panose="020B07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3385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AB140-3C07-5587-E197-9ABAC80A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FA8F507-5FA8-259D-6718-7B64CF430B7A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97B04F3-7277-2467-F032-F9A8D114311F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C22563B-DC31-39D8-C6E1-BCE0B62965D1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A1BF59B1-AFE2-578E-8D14-F74C9FDF7407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79CEADE-1A81-F19E-D2BF-6CA75D4E1FCA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6BF319-F211-1818-A76F-20592EC4DFFD}"/>
              </a:ext>
            </a:extLst>
          </p:cNvPr>
          <p:cNvSpPr/>
          <p:nvPr/>
        </p:nvSpPr>
        <p:spPr>
          <a:xfrm>
            <a:off x="0" y="9103940"/>
            <a:ext cx="18288000" cy="1143000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506B40A4-B1B6-B160-32B5-32E7F2F08F2A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5C25D6C-6EC0-7F8C-A7A8-85EB52E6B5BB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5B9959A0-4540-9D5A-ADB4-99A833FB92EC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55A938-EA7D-59BB-39B6-080BC89F758D}"/>
              </a:ext>
            </a:extLst>
          </p:cNvPr>
          <p:cNvSpPr txBox="1"/>
          <p:nvPr/>
        </p:nvSpPr>
        <p:spPr>
          <a:xfrm>
            <a:off x="1007096" y="1039044"/>
            <a:ext cx="16705856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700" dirty="0">
                <a:solidFill>
                  <a:srgbClr val="1B277B"/>
                </a:solidFill>
                <a:latin typeface="Arial Bold" panose="020B0704020202020204" pitchFamily="34" charset="0"/>
                <a:cs typeface="Arial Bold" panose="020B0704020202020204" pitchFamily="34" charset="0"/>
              </a:rPr>
              <a:t>CONCLUSION &amp; FUTURE WORK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100" dirty="0">
                <a:latin typeface="Arial "/>
                <a:cs typeface="Arial Bold" panose="020B0704020202020204" pitchFamily="34" charset="0"/>
              </a:rPr>
              <a:t>The proposed framework achieves real-time hotspot mitigation using PCM-assisted logic control with near-zero latency.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31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100" dirty="0">
                <a:latin typeface="Arial "/>
                <a:cs typeface="Arial Bold" panose="020B0704020202020204" pitchFamily="34" charset="0"/>
              </a:rPr>
              <a:t>It improves thermal stability, reduces peak temperature, and enhances overall system reliability.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31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100" dirty="0">
                <a:latin typeface="Arial "/>
                <a:cs typeface="Arial Bold" panose="020B0704020202020204" pitchFamily="34" charset="0"/>
              </a:rPr>
              <a:t>The system is scalable, energy-efficient, and compatible with CMOS fabrication processes.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sz="3100" dirty="0">
              <a:latin typeface="Arial "/>
              <a:cs typeface="Arial Bold" panose="020B07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3100" dirty="0">
                <a:latin typeface="Arial "/>
                <a:cs typeface="Arial Bold" panose="020B0704020202020204" pitchFamily="34" charset="0"/>
              </a:rPr>
              <a:t>Future work includes hardware implementation, FPGA prototyping, and advanced PCM material optimization.</a:t>
            </a:r>
          </a:p>
        </p:txBody>
      </p:sp>
    </p:spTree>
    <p:extLst>
      <p:ext uri="{BB962C8B-B14F-4D97-AF65-F5344CB8AC3E}">
        <p14:creationId xmlns:p14="http://schemas.microsoft.com/office/powerpoint/2010/main" val="1807451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527FF-9B93-63E8-0806-443690DDD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F8EF8E6-CA58-2F68-3363-3D30D2DDF751}"/>
              </a:ext>
            </a:extLst>
          </p:cNvPr>
          <p:cNvGrpSpPr/>
          <p:nvPr/>
        </p:nvGrpSpPr>
        <p:grpSpPr>
          <a:xfrm>
            <a:off x="0" y="9144000"/>
            <a:ext cx="18288000" cy="1143000"/>
            <a:chOff x="0" y="0"/>
            <a:chExt cx="6467985" cy="1025825"/>
          </a:xfrm>
          <a:solidFill>
            <a:schemeClr val="tx2"/>
          </a:solidFill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7373677-6823-3347-D615-D78555D8258F}"/>
                </a:ext>
              </a:extLst>
            </p:cNvPr>
            <p:cNvSpPr/>
            <p:nvPr/>
          </p:nvSpPr>
          <p:spPr>
            <a:xfrm>
              <a:off x="0" y="0"/>
              <a:ext cx="6467985" cy="1025825"/>
            </a:xfrm>
            <a:custGeom>
              <a:avLst/>
              <a:gdLst/>
              <a:ahLst/>
              <a:cxnLst/>
              <a:rect l="l" t="t" r="r" b="b"/>
              <a:pathLst>
                <a:path w="6467985" h="1025825">
                  <a:moveTo>
                    <a:pt x="16078" y="0"/>
                  </a:moveTo>
                  <a:lnTo>
                    <a:pt x="6451907" y="0"/>
                  </a:lnTo>
                  <a:cubicBezTo>
                    <a:pt x="6456171" y="0"/>
                    <a:pt x="6460260" y="1694"/>
                    <a:pt x="6463276" y="4709"/>
                  </a:cubicBezTo>
                  <a:cubicBezTo>
                    <a:pt x="6466291" y="7724"/>
                    <a:pt x="6467985" y="11814"/>
                    <a:pt x="6467985" y="16078"/>
                  </a:cubicBezTo>
                  <a:lnTo>
                    <a:pt x="6467985" y="1009748"/>
                  </a:lnTo>
                  <a:cubicBezTo>
                    <a:pt x="6467985" y="1014012"/>
                    <a:pt x="6466291" y="1018101"/>
                    <a:pt x="6463276" y="1021116"/>
                  </a:cubicBezTo>
                  <a:cubicBezTo>
                    <a:pt x="6460260" y="1024131"/>
                    <a:pt x="6456171" y="1025825"/>
                    <a:pt x="6451907" y="1025825"/>
                  </a:cubicBezTo>
                  <a:lnTo>
                    <a:pt x="16078" y="1025825"/>
                  </a:lnTo>
                  <a:cubicBezTo>
                    <a:pt x="11814" y="1025825"/>
                    <a:pt x="7724" y="1024131"/>
                    <a:pt x="4709" y="1021116"/>
                  </a:cubicBezTo>
                  <a:cubicBezTo>
                    <a:pt x="1694" y="1018101"/>
                    <a:pt x="0" y="1014012"/>
                    <a:pt x="0" y="1009748"/>
                  </a:cubicBezTo>
                  <a:lnTo>
                    <a:pt x="0" y="16078"/>
                  </a:lnTo>
                  <a:cubicBezTo>
                    <a:pt x="0" y="11814"/>
                    <a:pt x="1694" y="7724"/>
                    <a:pt x="4709" y="4709"/>
                  </a:cubicBezTo>
                  <a:cubicBezTo>
                    <a:pt x="7724" y="1694"/>
                    <a:pt x="11814" y="0"/>
                    <a:pt x="16078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77B0B0C-2C93-8330-23E5-BE14D08807CB}"/>
                </a:ext>
              </a:extLst>
            </p:cNvPr>
            <p:cNvSpPr txBox="1"/>
            <p:nvPr/>
          </p:nvSpPr>
          <p:spPr>
            <a:xfrm>
              <a:off x="0" y="-47625"/>
              <a:ext cx="6467985" cy="1073450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D8E7C4F3-1D85-17AE-C78B-5EA66289DF8C}"/>
              </a:ext>
            </a:extLst>
          </p:cNvPr>
          <p:cNvSpPr/>
          <p:nvPr/>
        </p:nvSpPr>
        <p:spPr>
          <a:xfrm>
            <a:off x="13731511" y="1434222"/>
            <a:ext cx="305535" cy="302202"/>
          </a:xfrm>
          <a:custGeom>
            <a:avLst/>
            <a:gdLst/>
            <a:ahLst/>
            <a:cxnLst/>
            <a:rect l="l" t="t" r="r" b="b"/>
            <a:pathLst>
              <a:path w="305535" h="302202">
                <a:moveTo>
                  <a:pt x="0" y="0"/>
                </a:moveTo>
                <a:lnTo>
                  <a:pt x="305535" y="0"/>
                </a:lnTo>
                <a:lnTo>
                  <a:pt x="305535" y="302203"/>
                </a:lnTo>
                <a:lnTo>
                  <a:pt x="0" y="302203"/>
                </a:lnTo>
                <a:lnTo>
                  <a:pt x="0" y="0"/>
                </a:lnTo>
                <a:close/>
              </a:path>
            </a:pathLst>
          </a:custGeom>
          <a:blipFill>
            <a:blip cstate="print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EE6EEBF-16C1-1379-0B33-AD7C1132130C}"/>
              </a:ext>
            </a:extLst>
          </p:cNvPr>
          <p:cNvSpPr txBox="1"/>
          <p:nvPr/>
        </p:nvSpPr>
        <p:spPr>
          <a:xfrm>
            <a:off x="13285083" y="9144000"/>
            <a:ext cx="5002917" cy="889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2025</a:t>
            </a: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8018BF9-5C62-FFDB-EB6D-B5B8A8EDABEF}"/>
              </a:ext>
            </a:extLst>
          </p:cNvPr>
          <p:cNvSpPr/>
          <p:nvPr/>
        </p:nvSpPr>
        <p:spPr>
          <a:xfrm>
            <a:off x="0" y="9156477"/>
            <a:ext cx="18288000" cy="1064979"/>
          </a:xfrm>
          <a:custGeom>
            <a:avLst/>
            <a:gdLst/>
            <a:ahLst/>
            <a:cxnLst/>
            <a:rect l="l" t="t" r="r" b="b"/>
            <a:pathLst>
              <a:path w="18832395" h="1392692">
                <a:moveTo>
                  <a:pt x="0" y="0"/>
                </a:moveTo>
                <a:lnTo>
                  <a:pt x="18832394" y="0"/>
                </a:lnTo>
                <a:lnTo>
                  <a:pt x="18832394" y="1392692"/>
                </a:lnTo>
                <a:lnTo>
                  <a:pt x="0" y="139269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tretch>
              <a:fillRect t="-792414" b="-45981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B4B11390-C396-09D4-9C86-4EF8B68BD79D}"/>
              </a:ext>
            </a:extLst>
          </p:cNvPr>
          <p:cNvSpPr/>
          <p:nvPr/>
        </p:nvSpPr>
        <p:spPr>
          <a:xfrm>
            <a:off x="254044" y="9316178"/>
            <a:ext cx="2279946" cy="795874"/>
          </a:xfrm>
          <a:custGeom>
            <a:avLst/>
            <a:gdLst/>
            <a:ahLst/>
            <a:cxnLst/>
            <a:rect l="l" t="t" r="r" b="b"/>
            <a:pathLst>
              <a:path w="2279946" h="795874">
                <a:moveTo>
                  <a:pt x="0" y="0"/>
                </a:moveTo>
                <a:lnTo>
                  <a:pt x="2279946" y="0"/>
                </a:lnTo>
                <a:lnTo>
                  <a:pt x="227994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657" t="-7363" r="-7790" b="-28393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639B3B6-DE14-90ED-95C2-EA74556BFF06}"/>
              </a:ext>
            </a:extLst>
          </p:cNvPr>
          <p:cNvSpPr/>
          <p:nvPr/>
        </p:nvSpPr>
        <p:spPr>
          <a:xfrm>
            <a:off x="2514940" y="9316178"/>
            <a:ext cx="2320676" cy="795874"/>
          </a:xfrm>
          <a:custGeom>
            <a:avLst/>
            <a:gdLst/>
            <a:ahLst/>
            <a:cxnLst/>
            <a:rect l="l" t="t" r="r" b="b"/>
            <a:pathLst>
              <a:path w="2320676" h="795874">
                <a:moveTo>
                  <a:pt x="0" y="0"/>
                </a:moveTo>
                <a:lnTo>
                  <a:pt x="2320676" y="0"/>
                </a:lnTo>
                <a:lnTo>
                  <a:pt x="2320676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5262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B1F21E9-75E4-CFFB-41F4-06D3B8D96485}"/>
              </a:ext>
            </a:extLst>
          </p:cNvPr>
          <p:cNvSpPr/>
          <p:nvPr/>
        </p:nvSpPr>
        <p:spPr>
          <a:xfrm>
            <a:off x="4816566" y="9316178"/>
            <a:ext cx="842664" cy="779263"/>
          </a:xfrm>
          <a:custGeom>
            <a:avLst/>
            <a:gdLst/>
            <a:ahLst/>
            <a:cxnLst/>
            <a:rect l="l" t="t" r="r" b="b"/>
            <a:pathLst>
              <a:path w="842664" h="795874">
                <a:moveTo>
                  <a:pt x="0" y="0"/>
                </a:moveTo>
                <a:lnTo>
                  <a:pt x="842664" y="0"/>
                </a:lnTo>
                <a:lnTo>
                  <a:pt x="842664" y="795873"/>
                </a:lnTo>
                <a:lnTo>
                  <a:pt x="0" y="795873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print"/>
            <a:stretch>
              <a:fillRect l="-48606" r="-171886" b="-60921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D7C200A-F02B-5CA1-A5A7-C32A4DBF7D38}"/>
              </a:ext>
            </a:extLst>
          </p:cNvPr>
          <p:cNvSpPr txBox="1"/>
          <p:nvPr/>
        </p:nvSpPr>
        <p:spPr>
          <a:xfrm>
            <a:off x="13454960" y="9156800"/>
            <a:ext cx="4607496" cy="8642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126"/>
              </a:lnSpc>
            </a:pPr>
            <a:r>
              <a:rPr lang="en-US" sz="5090" dirty="0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ICETEA 2026</a:t>
            </a:r>
          </a:p>
        </p:txBody>
      </p:sp>
      <p:sp>
        <p:nvSpPr>
          <p:cNvPr id="12" name="TextBox 2">
            <a:extLst>
              <a:ext uri="{FF2B5EF4-FFF2-40B4-BE49-F238E27FC236}">
                <a16:creationId xmlns:a16="http://schemas.microsoft.com/office/drawing/2014/main" id="{5BF04D53-A03C-5A3C-F759-A04EED75F264}"/>
              </a:ext>
            </a:extLst>
          </p:cNvPr>
          <p:cNvSpPr txBox="1"/>
          <p:nvPr/>
        </p:nvSpPr>
        <p:spPr>
          <a:xfrm>
            <a:off x="4470689" y="3176727"/>
            <a:ext cx="9346622" cy="3896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58"/>
              </a:lnSpc>
            </a:pPr>
            <a:r>
              <a:rPr lang="en-US" sz="16848" b="1" dirty="0">
                <a:solidFill>
                  <a:srgbClr val="0E2F5F"/>
                </a:solidFill>
                <a:latin typeface="Barlow Condensed Heavy"/>
                <a:ea typeface="Barlow Condensed Heavy"/>
                <a:cs typeface="Barlow Condensed Heavy"/>
                <a:sym typeface="Barlow Condensed Heavy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8184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670</Words>
  <Application>Microsoft Office PowerPoint</Application>
  <PresentationFormat>Custom</PresentationFormat>
  <Paragraphs>126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Arial Italics</vt:lpstr>
      <vt:lpstr>Archivo Black</vt:lpstr>
      <vt:lpstr>Arial</vt:lpstr>
      <vt:lpstr>Arial Bold</vt:lpstr>
      <vt:lpstr>Barlow Condensed Heavy</vt:lpstr>
      <vt:lpstr>Times New Roman</vt:lpstr>
      <vt:lpstr>Aileron Bold</vt:lpstr>
      <vt:lpstr>Calibri</vt:lpstr>
      <vt:lpstr>Arial 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The Future Of The Arctic Presentation</dc:title>
  <dc:creator>ACER</dc:creator>
  <cp:lastModifiedBy>Rupawaani kumaravel</cp:lastModifiedBy>
  <cp:revision>7</cp:revision>
  <dcterms:created xsi:type="dcterms:W3CDTF">2006-08-16T00:00:00Z</dcterms:created>
  <dcterms:modified xsi:type="dcterms:W3CDTF">2026-05-10T15:50:01Z</dcterms:modified>
  <dc:identifier>DAGnA61VJVo</dc:identifier>
</cp:coreProperties>
</file>